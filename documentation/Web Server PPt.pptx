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snapToObjects="1" showGuides="1">
      <p:cViewPr varScale="1">
        <p:scale>
          <a:sx n="81" d="100"/>
          <a:sy n="81" d="100"/>
        </p:scale>
        <p:origin x="1526"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1375053"/>
          </a:xfrm>
        </p:spPr>
        <p:txBody>
          <a:bodyPr/>
          <a:lstStyle/>
          <a:p>
            <a:r>
              <a:rPr lang="en-US" altLang="en-IN" b="1" dirty="0">
                <a:latin typeface="Arial Black" panose="020B0A04020102020204" charset="0"/>
                <a:cs typeface="Arial Black" panose="020B0A04020102020204" charset="0"/>
              </a:rPr>
              <a:t>TITTLE SLIDE</a:t>
            </a:r>
          </a:p>
        </p:txBody>
      </p:sp>
      <p:sp>
        <p:nvSpPr>
          <p:cNvPr id="8" name="TextBox 7"/>
          <p:cNvSpPr txBox="1"/>
          <p:nvPr/>
        </p:nvSpPr>
        <p:spPr>
          <a:xfrm>
            <a:off x="725864" y="1838228"/>
            <a:ext cx="9134572" cy="429895"/>
          </a:xfrm>
          <a:prstGeom prst="rect">
            <a:avLst/>
          </a:prstGeom>
          <a:noFill/>
        </p:spPr>
        <p:txBody>
          <a:bodyPr wrap="square" rtlCol="0">
            <a:spAutoFit/>
          </a:bodyPr>
          <a:lstStyle/>
          <a:p>
            <a:pPr marL="342900" indent="-342900">
              <a:buFont typeface="Arial" panose="020B0604020202020204" pitchFamily="34" charset="0"/>
              <a:buChar char="•"/>
            </a:pPr>
            <a:r>
              <a:rPr lang="en-US" sz="2200" b="1" dirty="0"/>
              <a:t>Project Name</a:t>
            </a:r>
            <a:r>
              <a:rPr lang="en-US" sz="2200" dirty="0"/>
              <a:t>: EMBEDDED WEB SERVER</a:t>
            </a:r>
            <a:endParaRPr lang="en-IN" sz="2200" dirty="0"/>
          </a:p>
        </p:txBody>
      </p:sp>
      <p:sp>
        <p:nvSpPr>
          <p:cNvPr id="9" name="TextBox 8"/>
          <p:cNvSpPr txBox="1"/>
          <p:nvPr/>
        </p:nvSpPr>
        <p:spPr>
          <a:xfrm>
            <a:off x="725865" y="2457654"/>
            <a:ext cx="7960936" cy="429895"/>
          </a:xfrm>
          <a:prstGeom prst="rect">
            <a:avLst/>
          </a:prstGeom>
          <a:noFill/>
        </p:spPr>
        <p:txBody>
          <a:bodyPr wrap="square" rtlCol="0">
            <a:spAutoFit/>
          </a:bodyPr>
          <a:lstStyle/>
          <a:p>
            <a:pPr marL="342900" indent="-342900">
              <a:buFont typeface="Arial" panose="020B0604020202020204" pitchFamily="34" charset="0"/>
              <a:buChar char="•"/>
            </a:pPr>
            <a:r>
              <a:rPr lang="en-US" sz="2200" b="1" dirty="0"/>
              <a:t>Name</a:t>
            </a:r>
            <a:r>
              <a:rPr lang="en-US" sz="2200" dirty="0"/>
              <a:t>: </a:t>
            </a:r>
            <a:r>
              <a:rPr lang="en-US" sz="2200" dirty="0" err="1"/>
              <a:t>T.Amulya</a:t>
            </a:r>
            <a:endParaRPr lang="en-IN" sz="2200" dirty="0"/>
          </a:p>
        </p:txBody>
      </p:sp>
      <p:sp>
        <p:nvSpPr>
          <p:cNvPr id="10" name="TextBox 9"/>
          <p:cNvSpPr txBox="1"/>
          <p:nvPr/>
        </p:nvSpPr>
        <p:spPr>
          <a:xfrm>
            <a:off x="725865" y="3077080"/>
            <a:ext cx="6325384" cy="429895"/>
          </a:xfrm>
          <a:prstGeom prst="rect">
            <a:avLst/>
          </a:prstGeom>
          <a:noFill/>
        </p:spPr>
        <p:txBody>
          <a:bodyPr wrap="square" rtlCol="0">
            <a:spAutoFit/>
          </a:bodyPr>
          <a:lstStyle/>
          <a:p>
            <a:pPr marL="342900" indent="-342900">
              <a:buFont typeface="Arial" panose="020B0604020202020204" pitchFamily="34" charset="0"/>
              <a:buChar char="•"/>
            </a:pPr>
            <a:r>
              <a:rPr lang="en-US" sz="2200" b="1" dirty="0"/>
              <a:t>Intern ID</a:t>
            </a:r>
            <a:r>
              <a:rPr lang="en-US" sz="2200" dirty="0"/>
              <a:t>: CITS3856</a:t>
            </a:r>
            <a:endParaRPr lang="en-IN" sz="2200" dirty="0"/>
          </a:p>
        </p:txBody>
      </p:sp>
      <p:sp>
        <p:nvSpPr>
          <p:cNvPr id="11" name="TextBox 10"/>
          <p:cNvSpPr txBox="1"/>
          <p:nvPr/>
        </p:nvSpPr>
        <p:spPr>
          <a:xfrm rot="10800000" flipV="1">
            <a:off x="725865" y="3696506"/>
            <a:ext cx="5995442" cy="429895"/>
          </a:xfrm>
          <a:prstGeom prst="rect">
            <a:avLst/>
          </a:prstGeom>
          <a:noFill/>
        </p:spPr>
        <p:txBody>
          <a:bodyPr wrap="square" rtlCol="0">
            <a:spAutoFit/>
          </a:bodyPr>
          <a:lstStyle/>
          <a:p>
            <a:pPr marL="342900" indent="-342900">
              <a:buFont typeface="Arial" panose="020B0604020202020204" pitchFamily="34" charset="0"/>
              <a:buChar char="•"/>
            </a:pPr>
            <a:r>
              <a:rPr lang="en-US" sz="2200" b="1" dirty="0"/>
              <a:t>Duration</a:t>
            </a:r>
            <a:r>
              <a:rPr lang="en-US" sz="2200" dirty="0"/>
              <a:t>: 4 weeks</a:t>
            </a:r>
            <a:endParaRPr lang="en-IN"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79730"/>
            <a:ext cx="8229600" cy="1181735"/>
          </a:xfrm>
        </p:spPr>
        <p:txBody>
          <a:bodyPr/>
          <a:lstStyle/>
          <a:p>
            <a:r>
              <a:rPr sz="4200" b="1" dirty="0">
                <a:latin typeface="Arial Black" panose="020B0A04020102020204" charset="0"/>
                <a:cs typeface="Arial Black" panose="020B0A04020102020204" charset="0"/>
              </a:rPr>
              <a:t>A</a:t>
            </a:r>
            <a:r>
              <a:rPr lang="en-US" sz="4200" b="1" dirty="0">
                <a:latin typeface="Arial Black" panose="020B0A04020102020204" charset="0"/>
                <a:cs typeface="Arial Black" panose="020B0A04020102020204" charset="0"/>
              </a:rPr>
              <a:t>BSTRACT</a:t>
            </a:r>
          </a:p>
        </p:txBody>
      </p:sp>
      <p:sp>
        <p:nvSpPr>
          <p:cNvPr id="5" name="TextBox 4"/>
          <p:cNvSpPr txBox="1"/>
          <p:nvPr/>
        </p:nvSpPr>
        <p:spPr>
          <a:xfrm flipH="1">
            <a:off x="283210" y="1929130"/>
            <a:ext cx="8691245" cy="3600450"/>
          </a:xfrm>
          <a:prstGeom prst="rect">
            <a:avLst/>
          </a:prstGeom>
          <a:noFill/>
        </p:spPr>
        <p:txBody>
          <a:bodyPr wrap="square" rtlCol="0">
            <a:noAutofit/>
          </a:bodyPr>
          <a:lstStyle/>
          <a:p>
            <a:r>
              <a:rPr lang="en-US" altLang="en-US" sz="2000" dirty="0"/>
              <a:t>The </a:t>
            </a:r>
            <a:r>
              <a:rPr lang="en-US" altLang="en-US" sz="2000" b="1" dirty="0"/>
              <a:t>Embedded Web Server</a:t>
            </a:r>
            <a:r>
              <a:rPr lang="en-US" altLang="en-US" sz="2000" dirty="0"/>
              <a:t> project uses the ESP32 microcontroller to host a web page over a Wi-Fi network. The web interface allows users to remotely control an LED using a browser. This project demonstrates wireless communication and Internet of Things (IoT) concepts through a simple and efficient embedded system.</a:t>
            </a:r>
            <a:r>
              <a:rPr lang="en-US" sz="2000" dirty="0"/>
              <a:t> </a:t>
            </a:r>
          </a:p>
          <a:p>
            <a:r>
              <a:rPr lang="en-US" sz="2000" dirty="0"/>
              <a:t>The Project demonstrates the integration of embedded systems with networking technologies to provide wireless control and automation. Due to its low power consumption, built-in Wi-Fi capability, and ease of implementation, the ESP32 is widely used in IoT applications. This project provides a foundation for understanding web server implementation and remote device management in embedded systems.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1643613"/>
          </a:xfrm>
        </p:spPr>
        <p:txBody>
          <a:bodyPr/>
          <a:lstStyle/>
          <a:p>
            <a:r>
              <a:rPr b="1" dirty="0">
                <a:latin typeface="Arial Black" panose="020B0A04020102020204" charset="0"/>
                <a:cs typeface="Arial Black" panose="020B0A04020102020204" charset="0"/>
              </a:rPr>
              <a:t>I</a:t>
            </a:r>
            <a:r>
              <a:rPr lang="en-US" b="1" dirty="0">
                <a:latin typeface="Arial Black" panose="020B0A04020102020204" charset="0"/>
                <a:cs typeface="Arial Black" panose="020B0A04020102020204" charset="0"/>
              </a:rPr>
              <a:t>NTRODUCTION</a:t>
            </a:r>
          </a:p>
        </p:txBody>
      </p:sp>
      <p:sp>
        <p:nvSpPr>
          <p:cNvPr id="4" name="TextBox 3"/>
          <p:cNvSpPr txBox="1"/>
          <p:nvPr/>
        </p:nvSpPr>
        <p:spPr>
          <a:xfrm>
            <a:off x="457200" y="1709531"/>
            <a:ext cx="8229600" cy="2861310"/>
          </a:xfrm>
          <a:prstGeom prst="rect">
            <a:avLst/>
          </a:prstGeom>
          <a:noFill/>
        </p:spPr>
        <p:txBody>
          <a:bodyPr wrap="square" rtlCol="0">
            <a:spAutoFit/>
          </a:bodyPr>
          <a:lstStyle/>
          <a:p>
            <a:r>
              <a:rPr lang="en-US" altLang="en-US" dirty="0" err="1"/>
              <a:t>Embedded systems are specialized computing systems designed to perform dedicated functions. With the advancement of IoT technology, devices can communicate through networks and be controlled remotely. In this project, an ESP32 microcontroller acts as a web server and provides a user-friendly webpage to control an LED through Wi-Fi, eliminating the need for physical switches. In this project, the ESP32 acts as a web server and hosts a webpage containing control buttons for an LED. Users can access this webpage using a smartphone, laptop, or computer connected to the same Wi-Fi network. By clicking the buttons on the webpage, commands are transmitted to the ESP32, which then controls the LED accordingly. This project provides practical knowledge about embedded systems, networking concepts, and IoT applications.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Arial Black" panose="020B0A04020102020204" charset="0"/>
                <a:cs typeface="Arial Black" panose="020B0A04020102020204" charset="0"/>
              </a:rPr>
              <a:t>O</a:t>
            </a:r>
            <a:r>
              <a:rPr lang="en-US" b="1" dirty="0">
                <a:latin typeface="Arial Black" panose="020B0A04020102020204" charset="0"/>
                <a:cs typeface="Arial Black" panose="020B0A04020102020204" charset="0"/>
              </a:rPr>
              <a:t>BJECTIVES</a:t>
            </a:r>
          </a:p>
        </p:txBody>
      </p:sp>
      <p:sp>
        <p:nvSpPr>
          <p:cNvPr id="3" name="Content Placeholder 2"/>
          <p:cNvSpPr>
            <a:spLocks noGrp="1"/>
          </p:cNvSpPr>
          <p:nvPr>
            <p:ph idx="1"/>
          </p:nvPr>
        </p:nvSpPr>
        <p:spPr>
          <a:xfrm>
            <a:off x="457200" y="1600200"/>
            <a:ext cx="8229600" cy="3340735"/>
          </a:xfrm>
        </p:spPr>
        <p:txBody>
          <a:bodyPr>
            <a:normAutofit lnSpcReduction="10000"/>
          </a:bodyPr>
          <a:lstStyle/>
          <a:p>
            <a:pPr marL="0" indent="0">
              <a:buNone/>
            </a:pPr>
            <a:r>
              <a:rPr lang="en-US" sz="2000" dirty="0"/>
              <a:t>The main objective of the Project</a:t>
            </a:r>
            <a:r>
              <a:rPr lang="en-US" altLang="en-US" sz="2000" dirty="0"/>
              <a:t> is to design and implement an embedded web server using the ESP32 microcontroller for remote control applications. The project aims to establish wireless communication between the ESP32 and users through a web browser. Another objective is to provide a simple and efficient interface for controlling an LED using ON and OFF commands. The project also aims to understand the concepts of embedded systems, Wi-Fi communication, and web server technologies. Furthermore, it helps in gaining practical knowledge of IoT applications and their implementation using modern microcontrollers. The project serves as a basic platform that can be expanded to control multiple devices and sensors in future applications.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1862275"/>
          </a:xfrm>
        </p:spPr>
        <p:txBody>
          <a:bodyPr/>
          <a:lstStyle/>
          <a:p>
            <a:r>
              <a:rPr lang="en-US" b="1" dirty="0">
                <a:latin typeface="Arial Black" panose="020B0A04020102020204" charset="0"/>
                <a:cs typeface="Arial Black" panose="020B0A04020102020204" charset="0"/>
              </a:rPr>
              <a:t>COMPONENTS USED</a:t>
            </a:r>
            <a:endParaRPr b="1" dirty="0">
              <a:latin typeface="Arial Black" panose="020B0A04020102020204" charset="0"/>
              <a:cs typeface="Arial Black" panose="020B0A04020102020204" charset="0"/>
            </a:endParaRPr>
          </a:p>
        </p:txBody>
      </p:sp>
      <p:sp>
        <p:nvSpPr>
          <p:cNvPr id="8" name="Rectangle 3"/>
          <p:cNvSpPr>
            <a:spLocks noChangeArrowheads="1"/>
          </p:cNvSpPr>
          <p:nvPr/>
        </p:nvSpPr>
        <p:spPr bwMode="auto">
          <a:xfrm rot="10800000" flipV="1">
            <a:off x="268355" y="1507298"/>
            <a:ext cx="6679096" cy="3415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1" i="0" u="none" strike="noStrike" cap="none" normalizeH="0" baseline="0" dirty="0">
                <a:ln>
                  <a:noFill/>
                </a:ln>
                <a:solidFill>
                  <a:schemeClr val="tx1"/>
                </a:solidFill>
                <a:effectLst/>
                <a:latin typeface="Arial" panose="020B0604020202020204" pitchFamily="34" charset="0"/>
              </a:rPr>
              <a:t>Hardware Required:</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ESP32 Development Board </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LED</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220Ω  Resistor</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Connecting Wires </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Jumper Wires</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1" i="0" u="none" strike="noStrike" cap="none" normalizeH="0" baseline="0" dirty="0">
                <a:ln>
                  <a:noFill/>
                </a:ln>
                <a:solidFill>
                  <a:schemeClr val="tx1"/>
                </a:solidFill>
                <a:effectLst/>
                <a:latin typeface="Arial" panose="020B0604020202020204" pitchFamily="34" charset="0"/>
              </a:rPr>
              <a:t>Software Required: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Arduino IDE</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ESP32 WebServer Library</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Wi-Fi Library</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Wokwi Simulator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Arial Black" panose="020B0A04020102020204" charset="0"/>
                <a:cs typeface="Arial Black" panose="020B0A04020102020204" charset="0"/>
              </a:rPr>
              <a:t>M</a:t>
            </a:r>
            <a:r>
              <a:rPr lang="en-US" b="1" dirty="0">
                <a:latin typeface="Arial Black" panose="020B0A04020102020204" charset="0"/>
                <a:cs typeface="Arial Black" panose="020B0A04020102020204" charset="0"/>
              </a:rPr>
              <a:t>ETHODOLOGY</a:t>
            </a:r>
          </a:p>
        </p:txBody>
      </p:sp>
      <p:sp>
        <p:nvSpPr>
          <p:cNvPr id="4" name="Rectangle 1"/>
          <p:cNvSpPr>
            <a:spLocks noGrp="1" noChangeArrowheads="1"/>
          </p:cNvSpPr>
          <p:nvPr>
            <p:ph idx="1"/>
          </p:nvPr>
        </p:nvSpPr>
        <p:spPr bwMode="auto">
          <a:xfrm>
            <a:off x="458470" y="1899920"/>
            <a:ext cx="8228330" cy="3453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Wi-Fi Configuration</a:t>
            </a:r>
            <a:r>
              <a:rPr kumimoji="0" lang="en-US" altLang="en-US" sz="1800" b="0" i="0" u="none" strike="noStrike" cap="none" normalizeH="0" baseline="0" dirty="0">
                <a:ln>
                  <a:noFill/>
                </a:ln>
                <a:solidFill>
                  <a:schemeClr val="tx1"/>
                </a:solidFill>
                <a:effectLst/>
                <a:latin typeface="Arial" panose="020B0604020202020204" pitchFamily="34" charset="0"/>
              </a:rPr>
              <a:t>: The ESP32 is programmed with the SSID and password of the local Wi-Fi network.</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Network Connection</a:t>
            </a:r>
            <a:r>
              <a:rPr kumimoji="0" lang="en-US" altLang="en-US" sz="1800" b="0" i="0" u="none" strike="noStrike" cap="none" normalizeH="0" baseline="0" dirty="0">
                <a:ln>
                  <a:noFill/>
                </a:ln>
                <a:solidFill>
                  <a:schemeClr val="tx1"/>
                </a:solidFill>
                <a:effectLst/>
                <a:latin typeface="Arial" panose="020B0604020202020204" pitchFamily="34" charset="0"/>
              </a:rPr>
              <a:t>: After power is supplied, the ESP32 connects to the Wi-Fi network and obtains an IP address.</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Web Server Initialization:</a:t>
            </a:r>
            <a:r>
              <a:rPr kumimoji="0" lang="en-US" altLang="en-US" sz="1800" b="0" i="0" u="none" strike="noStrike" cap="none" normalizeH="0" baseline="0" dirty="0">
                <a:ln>
                  <a:noFill/>
                </a:ln>
                <a:solidFill>
                  <a:schemeClr val="tx1"/>
                </a:solidFill>
                <a:effectLst/>
                <a:latin typeface="Arial" panose="020B0604020202020204" pitchFamily="34" charset="0"/>
              </a:rPr>
              <a:t> The ESP32 initializes an embedded web server and starts listening for requests from connected devices.</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Web Page Creation:</a:t>
            </a:r>
            <a:r>
              <a:rPr kumimoji="0" lang="en-US" altLang="en-US" sz="1800" b="0" i="0" u="none" strike="noStrike" cap="none" normalizeH="0" baseline="0" dirty="0">
                <a:ln>
                  <a:noFill/>
                </a:ln>
                <a:solidFill>
                  <a:schemeClr val="tx1"/>
                </a:solidFill>
                <a:effectLst/>
                <a:latin typeface="Arial" panose="020B0604020202020204" pitchFamily="34" charset="0"/>
              </a:rPr>
              <a:t> A web page containing LED ON and LED OFF buttons is generated and hosted by the ESP32.</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User Access</a:t>
            </a:r>
            <a:r>
              <a:rPr kumimoji="0" lang="en-US" altLang="en-US" sz="1800" b="0" i="0" u="none" strike="noStrike" cap="none" normalizeH="0" baseline="0" dirty="0">
                <a:ln>
                  <a:noFill/>
                </a:ln>
                <a:solidFill>
                  <a:schemeClr val="tx1"/>
                </a:solidFill>
                <a:effectLst/>
                <a:latin typeface="Arial" panose="020B0604020202020204" pitchFamily="34" charset="0"/>
              </a:rPr>
              <a:t>: Users enter the IP address displayed on the Serial Monitor into a web browser to access the control page.</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Request Processing:</a:t>
            </a:r>
            <a:r>
              <a:rPr kumimoji="0" lang="en-US" altLang="en-US" sz="1800" b="0" i="0" u="none" strike="noStrike" cap="none" normalizeH="0" baseline="0" dirty="0">
                <a:ln>
                  <a:noFill/>
                </a:ln>
                <a:solidFill>
                  <a:schemeClr val="tx1"/>
                </a:solidFill>
                <a:effectLst/>
                <a:latin typeface="Arial" panose="020B0604020202020204" pitchFamily="34" charset="0"/>
              </a:rPr>
              <a:t> When a button is pressed, the browser sends an HTTP request to the ESP32 web server.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68757" y="149087"/>
            <a:ext cx="5218042" cy="1268552"/>
          </a:xfrm>
        </p:spPr>
        <p:txBody>
          <a:bodyPr/>
          <a:lstStyle/>
          <a:p>
            <a:pPr algn="l"/>
            <a:r>
              <a:rPr lang="en-IN" b="1" dirty="0">
                <a:latin typeface="Arial Black" panose="020B0A04020102020204" charset="0"/>
                <a:cs typeface="Arial Black" panose="020B0A04020102020204" charset="0"/>
              </a:rPr>
              <a:t>R</a:t>
            </a:r>
            <a:r>
              <a:rPr lang="en-US" altLang="en-IN" b="1" dirty="0">
                <a:latin typeface="Arial Black" panose="020B0A04020102020204" charset="0"/>
                <a:cs typeface="Arial Black" panose="020B0A04020102020204" charset="0"/>
              </a:rPr>
              <a:t>ESULT</a:t>
            </a:r>
          </a:p>
        </p:txBody>
      </p:sp>
      <p:sp>
        <p:nvSpPr>
          <p:cNvPr id="3" name="Content Placeholder 2"/>
          <p:cNvSpPr>
            <a:spLocks noGrp="1"/>
          </p:cNvSpPr>
          <p:nvPr>
            <p:ph idx="1"/>
          </p:nvPr>
        </p:nvSpPr>
        <p:spPr>
          <a:xfrm>
            <a:off x="457200" y="1417638"/>
            <a:ext cx="7941365" cy="1454771"/>
          </a:xfrm>
        </p:spPr>
        <p:txBody>
          <a:bodyPr>
            <a:normAutofit/>
          </a:bodyPr>
          <a:lstStyle/>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sz="2000" dirty="0"/>
          </a:p>
        </p:txBody>
      </p:sp>
      <p:sp>
        <p:nvSpPr>
          <p:cNvPr id="6" name="TextBox 5"/>
          <p:cNvSpPr txBox="1"/>
          <p:nvPr/>
        </p:nvSpPr>
        <p:spPr>
          <a:xfrm>
            <a:off x="69575" y="1341783"/>
            <a:ext cx="8766312" cy="922020"/>
          </a:xfrm>
          <a:prstGeom prst="rect">
            <a:avLst/>
          </a:prstGeom>
          <a:noFill/>
        </p:spPr>
        <p:txBody>
          <a:bodyPr wrap="square" rtlCol="0">
            <a:spAutoFit/>
          </a:bodyPr>
          <a:lstStyle/>
          <a:p>
            <a:r>
              <a:rPr lang="en-US" dirty="0"/>
              <a:t>The ESP32 connected to the Wi-Fi network and displayed its IP address in the serial monitor.  A Webpage was generated succesfully, allowing users to turn the LED ON and OFF remotely. The system operated reliably and demonstrated wireless device control.</a:t>
            </a:r>
            <a:endParaRPr lang="en-IN" dirty="0"/>
          </a:p>
        </p:txBody>
      </p:sp>
      <p:pic>
        <p:nvPicPr>
          <p:cNvPr id="5" name="Picture 4" descr="Output"/>
          <p:cNvPicPr>
            <a:picLocks noChangeAspect="1"/>
          </p:cNvPicPr>
          <p:nvPr/>
        </p:nvPicPr>
        <p:blipFill>
          <a:blip r:embed="rId2"/>
          <a:stretch>
            <a:fillRect/>
          </a:stretch>
        </p:blipFill>
        <p:spPr>
          <a:xfrm>
            <a:off x="1348740" y="2613025"/>
            <a:ext cx="5955030" cy="30784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1564101"/>
          </a:xfrm>
        </p:spPr>
        <p:txBody>
          <a:bodyPr/>
          <a:lstStyle/>
          <a:p>
            <a:r>
              <a:rPr lang="en-IN" b="1" dirty="0">
                <a:latin typeface="Arial Black" panose="020B0A04020102020204" charset="0"/>
                <a:cs typeface="Arial Black" panose="020B0A04020102020204" charset="0"/>
              </a:rPr>
              <a:t>A</a:t>
            </a:r>
            <a:r>
              <a:rPr lang="en-US" altLang="en-IN" b="1" dirty="0">
                <a:latin typeface="Arial Black" panose="020B0A04020102020204" charset="0"/>
                <a:cs typeface="Arial Black" panose="020B0A04020102020204" charset="0"/>
              </a:rPr>
              <a:t>DVANTAGES</a:t>
            </a:r>
          </a:p>
        </p:txBody>
      </p:sp>
      <p:sp>
        <p:nvSpPr>
          <p:cNvPr id="4" name="Rectangle 1"/>
          <p:cNvSpPr>
            <a:spLocks noGrp="1" noChangeArrowheads="1"/>
          </p:cNvSpPr>
          <p:nvPr>
            <p:ph idx="1"/>
          </p:nvPr>
        </p:nvSpPr>
        <p:spPr bwMode="auto">
          <a:xfrm>
            <a:off x="457200" y="3524625"/>
            <a:ext cx="6480313"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8" name="Rectangle 3"/>
          <p:cNvSpPr>
            <a:spLocks noChangeArrowheads="1"/>
          </p:cNvSpPr>
          <p:nvPr/>
        </p:nvSpPr>
        <p:spPr bwMode="auto">
          <a:xfrm rot="10800000" flipV="1">
            <a:off x="954405" y="1708785"/>
            <a:ext cx="7394575" cy="2336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Enables wireless control of devices. </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Low-cost and energy-efficient solution. </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Easy to Implement and maintain. </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Supports Internet of Things applications. </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Provides real-time monitoring and control. </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Can be accessed from any device connected to the network.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7748" y="673285"/>
            <a:ext cx="8229600" cy="1143000"/>
          </a:xfrm>
        </p:spPr>
        <p:txBody>
          <a:bodyPr/>
          <a:lstStyle/>
          <a:p>
            <a:r>
              <a:rPr lang="en-IN" b="1" dirty="0">
                <a:latin typeface="Arial Black" panose="020B0A04020102020204" charset="0"/>
                <a:cs typeface="Arial Black" panose="020B0A04020102020204" charset="0"/>
              </a:rPr>
              <a:t>A</a:t>
            </a:r>
            <a:r>
              <a:rPr lang="en-US" altLang="en-IN" b="1" dirty="0">
                <a:latin typeface="Arial Black" panose="020B0A04020102020204" charset="0"/>
                <a:cs typeface="Arial Black" panose="020B0A04020102020204" charset="0"/>
              </a:rPr>
              <a:t>PPLICATIONS</a:t>
            </a:r>
          </a:p>
        </p:txBody>
      </p:sp>
      <p:sp>
        <p:nvSpPr>
          <p:cNvPr id="3" name="Content Placeholder 2"/>
          <p:cNvSpPr>
            <a:spLocks noGrp="1"/>
          </p:cNvSpPr>
          <p:nvPr>
            <p:ph idx="1"/>
          </p:nvPr>
        </p:nvSpPr>
        <p:spPr/>
        <p:txBody>
          <a:bodyPr>
            <a:normAutofit/>
          </a:bodyPr>
          <a:lstStyle/>
          <a:p>
            <a:pPr marL="0" indent="0">
              <a:buNone/>
            </a:pPr>
            <a:endParaRPr lang="en-US" sz="2000" dirty="0"/>
          </a:p>
          <a:p>
            <a:pPr marL="0" indent="0">
              <a:buNone/>
            </a:pPr>
            <a:endParaRPr sz="2000" dirty="0"/>
          </a:p>
        </p:txBody>
      </p:sp>
      <p:sp>
        <p:nvSpPr>
          <p:cNvPr id="4" name="TextBox 3"/>
          <p:cNvSpPr txBox="1"/>
          <p:nvPr/>
        </p:nvSpPr>
        <p:spPr>
          <a:xfrm>
            <a:off x="1490980" y="2084705"/>
            <a:ext cx="6008370" cy="2688590"/>
          </a:xfrm>
          <a:prstGeom prst="rect">
            <a:avLst/>
          </a:prstGeom>
          <a:noFill/>
        </p:spPr>
        <p:txBody>
          <a:bodyPr wrap="square" rtlCol="0">
            <a:noAutofit/>
          </a:bodyPr>
          <a:lstStyle/>
          <a:p>
            <a:pPr marL="342900" indent="-342900">
              <a:buFont typeface="Arial" panose="020B0604020202020204" pitchFamily="34" charset="0"/>
              <a:buChar char="•"/>
            </a:pPr>
            <a:r>
              <a:rPr lang="en-US" sz="2000" dirty="0"/>
              <a:t>Smart Home Automation.</a:t>
            </a:r>
          </a:p>
          <a:p>
            <a:pPr marL="342900" indent="-342900">
              <a:buFont typeface="Arial" panose="020B0604020202020204" pitchFamily="34" charset="0"/>
              <a:buChar char="•"/>
            </a:pPr>
            <a:r>
              <a:rPr lang="en-US" sz="2000" dirty="0"/>
              <a:t>Industrial Monitoring Systems.</a:t>
            </a:r>
          </a:p>
          <a:p>
            <a:pPr marL="342900" indent="-342900">
              <a:buFont typeface="Arial" panose="020B0604020202020204" pitchFamily="34" charset="0"/>
              <a:buChar char="•"/>
            </a:pPr>
            <a:r>
              <a:rPr lang="en-US" sz="2000" dirty="0"/>
              <a:t>Remote Device Control. </a:t>
            </a:r>
          </a:p>
          <a:p>
            <a:pPr marL="342900" indent="-342900">
              <a:buFont typeface="Arial" panose="020B0604020202020204" pitchFamily="34" charset="0"/>
              <a:buChar char="•"/>
            </a:pPr>
            <a:r>
              <a:rPr lang="en-US" sz="2000" dirty="0"/>
              <a:t>IoT-Based Projects. </a:t>
            </a:r>
          </a:p>
          <a:p>
            <a:pPr marL="342900" indent="-342900">
              <a:buFont typeface="Arial" panose="020B0604020202020204" pitchFamily="34" charset="0"/>
              <a:buChar char="•"/>
            </a:pPr>
            <a:r>
              <a:rPr lang="en-US" sz="2000" dirty="0"/>
              <a:t>Smart lighting Systems.</a:t>
            </a:r>
          </a:p>
          <a:p>
            <a:pPr marL="342900" indent="-342900">
              <a:buFont typeface="Arial" panose="020B0604020202020204" pitchFamily="34" charset="0"/>
              <a:buChar char="•"/>
            </a:pPr>
            <a:r>
              <a:rPr lang="en-US" sz="2000" dirty="0"/>
              <a:t>Security and Surveillance Systems. </a:t>
            </a:r>
          </a:p>
          <a:p>
            <a:pPr marL="342900" indent="-342900">
              <a:buFont typeface="Arial" panose="020B0604020202020204" pitchFamily="34" charset="0"/>
              <a:buChar char="•"/>
            </a:pPr>
            <a:r>
              <a:rPr lang="en-US" sz="2000" dirty="0"/>
              <a:t>Educational and Research Applications.</a:t>
            </a:r>
          </a:p>
          <a:p>
            <a:pPr marL="342900" indent="-342900">
              <a:buFont typeface="Arial" panose="020B0604020202020204" pitchFamily="34" charset="0"/>
              <a:buChar char="•"/>
            </a:pPr>
            <a:endParaRPr lang="en-IN"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ltLang="en-IN" b="1" dirty="0">
                <a:latin typeface="Arial Black" panose="020B0A04020102020204" charset="0"/>
                <a:cs typeface="Arial Black" panose="020B0A04020102020204" charset="0"/>
              </a:rPr>
              <a:t>CONCLUSION</a:t>
            </a:r>
          </a:p>
        </p:txBody>
      </p:sp>
      <p:sp>
        <p:nvSpPr>
          <p:cNvPr id="6" name="Rectangle 1"/>
          <p:cNvSpPr>
            <a:spLocks noGrp="1" noChangeArrowheads="1"/>
          </p:cNvSpPr>
          <p:nvPr>
            <p:ph idx="1"/>
          </p:nvPr>
        </p:nvSpPr>
        <p:spPr bwMode="auto">
          <a:xfrm>
            <a:off x="83128" y="1968210"/>
            <a:ext cx="8905008" cy="2861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6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Embedded Web Server</a:t>
            </a:r>
            <a:r>
              <a:rPr kumimoji="0" lang="en-US" altLang="en-US" sz="1800" b="0" i="0" u="none" strike="noStrike" cap="none" normalizeH="0" baseline="0" dirty="0">
                <a:ln>
                  <a:noFill/>
                </a:ln>
                <a:solidFill>
                  <a:schemeClr val="tx1"/>
                </a:solidFill>
                <a:effectLst/>
                <a:latin typeface="Arial" panose="020B0604020202020204" pitchFamily="34" charset="0"/>
              </a:rPr>
              <a:t> using ESP32 was successfully designed and simulated. The system hosts a webpage through Wi-Fi and enables users to control an LED remotely. The project demonstrates the practical implementation of embedded systems and IoT technologies, providing a foundation for advanced smart applications.The developed system can serve as a basic framework for more advanced Internet of Things applications. The project can be extended to home automation, industrial monitoring, smart agriculture, healthcare systems, and remote data acquisition applications.The knowledge gained through this project provides a strong foundation for designing and implementing future IoT-based automation solutions.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807</Words>
  <Application>Microsoft Office PowerPoint</Application>
  <PresentationFormat>On-screen Show (4:3)</PresentationFormat>
  <Paragraphs>97</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Arial Black</vt:lpstr>
      <vt:lpstr>Calibri</vt:lpstr>
      <vt:lpstr>Office Theme</vt:lpstr>
      <vt:lpstr>TITTLE SLIDE</vt:lpstr>
      <vt:lpstr>ABSTRACT</vt:lpstr>
      <vt:lpstr>INTRODUCTION</vt:lpstr>
      <vt:lpstr>OBJECTIVES</vt:lpstr>
      <vt:lpstr>COMPONENTS USED</vt:lpstr>
      <vt:lpstr>METHODOLOGY</vt:lpstr>
      <vt:lpstr>RESULT</vt:lpstr>
      <vt:lpstr>ADVANTAGES</vt:lpstr>
      <vt:lpstr>APPLICATIONS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vandana avvi</dc:creator>
  <dc:description>generated using python-pptx</dc:description>
  <cp:lastModifiedBy>vandana avvi</cp:lastModifiedBy>
  <cp:revision>6</cp:revision>
  <dcterms:created xsi:type="dcterms:W3CDTF">2013-01-27T09:14:00Z</dcterms:created>
  <dcterms:modified xsi:type="dcterms:W3CDTF">2026-06-25T11:07:57Z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3C5FABD4EE6C4366AA9ADBD51F4A6BE5_13</vt:lpwstr>
  </property>
</Properties>
</file>